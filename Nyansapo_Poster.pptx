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30275784" cy="42803064"/>
  <p:notesSz cx="42803064" cy="30275784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275784" cy="6858000"/>
          </a:xfrm>
          <a:prstGeom prst="rect">
            <a:avLst/>
          </a:prstGeom>
          <a:solidFill>
            <a:srgbClr val="1B2A6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0275784" cy="146304"/>
          </a:xfrm>
          <a:prstGeom prst="rect">
            <a:avLst/>
          </a:prstGeom>
          <a:solidFill>
            <a:srgbClr val="F2B705"/>
          </a:solidFill>
          <a:ln/>
        </p:spPr>
      </p:sp>
      <p:sp>
        <p:nvSpPr>
          <p:cNvPr id="4" name="Shape 2"/>
          <p:cNvSpPr/>
          <p:nvPr/>
        </p:nvSpPr>
        <p:spPr>
          <a:xfrm>
            <a:off x="-2011680" y="1463040"/>
            <a:ext cx="5303520" cy="5303520"/>
          </a:xfrm>
          <a:prstGeom prst="ellipse">
            <a:avLst/>
          </a:prstGeom>
          <a:solidFill>
            <a:srgbClr val="2E4099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7258264" y="-2194560"/>
            <a:ext cx="5852160" cy="5852160"/>
          </a:xfrm>
          <a:prstGeom prst="ellipse">
            <a:avLst/>
          </a:prstGeom>
          <a:solidFill>
            <a:srgbClr val="2E4099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594360"/>
            <a:ext cx="603504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030">
                <a:alpha val="30000"/>
              </a:srgbClr>
            </a:outerShdw>
          </a:effectLst>
        </p:spPr>
      </p:sp>
      <p:pic>
        <p:nvPicPr>
          <p:cNvPr id="7" name="Image 0" descr="css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822960"/>
            <a:ext cx="1839439" cy="12344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964151" y="868680"/>
            <a:ext cx="0" cy="1325880"/>
          </a:xfrm>
          <a:prstGeom prst="line">
            <a:avLst/>
          </a:prstGeom>
          <a:noFill/>
          <a:ln w="19050">
            <a:solidFill>
              <a:srgbClr val="D7DCF0"/>
            </a:solidFill>
            <a:prstDash val="solid"/>
          </a:ln>
        </p:spPr>
      </p:sp>
      <p:pic>
        <p:nvPicPr>
          <p:cNvPr id="9" name="Image 1" descr="knust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1039" y="655072"/>
            <a:ext cx="3418361" cy="1570216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3600664" y="594360"/>
            <a:ext cx="603504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030">
                <a:alpha val="30000"/>
              </a:srgbClr>
            </a:outerShdw>
          </a:effectLst>
        </p:spPr>
      </p:sp>
      <p:sp>
        <p:nvSpPr>
          <p:cNvPr id="11" name="Text 7"/>
          <p:cNvSpPr txBox="1"/>
          <p:nvPr/>
        </p:nvSpPr>
        <p:spPr>
          <a:xfrm>
            <a:off x="23600664" y="64008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400" b="1" spc="140" kern="0" dirty="0">
                <a:solidFill>
                  <a:srgbClr val="2E40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NYANSAPO</a:t>
            </a:r>
            <a:endParaRPr lang="en-US" sz="3400" dirty="0"/>
          </a:p>
        </p:txBody>
      </p:sp>
      <p:sp>
        <p:nvSpPr>
          <p:cNvPr id="12" name="Text 8"/>
          <p:cNvSpPr txBox="1"/>
          <p:nvPr/>
        </p:nvSpPr>
        <p:spPr>
          <a:xfrm>
            <a:off x="23600664" y="1572768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spc="140" kern="0" dirty="0">
                <a:solidFill>
                  <a:srgbClr val="B98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CORRECTIVE-RAG TUTORING SYSTEM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7406640" y="777240"/>
            <a:ext cx="154625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2B7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Nyansapo</a:t>
            </a:r>
            <a:endParaRPr lang="en-US" sz="6400" dirty="0"/>
          </a:p>
        </p:txBody>
      </p:sp>
      <p:sp>
        <p:nvSpPr>
          <p:cNvPr id="14" name="Text 10"/>
          <p:cNvSpPr txBox="1"/>
          <p:nvPr/>
        </p:nvSpPr>
        <p:spPr>
          <a:xfrm>
            <a:off x="7406640" y="1828800"/>
            <a:ext cx="1546250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Cost-Weighted Intent-Classified Corrective RAG System for Hallucination Reduction in a Ghanaian University Environment</a:t>
            </a:r>
            <a:endParaRPr lang="en-US" sz="2700" dirty="0"/>
          </a:p>
        </p:txBody>
      </p:sp>
      <p:sp>
        <p:nvSpPr>
          <p:cNvPr id="15" name="Text 11"/>
          <p:cNvSpPr txBox="1"/>
          <p:nvPr/>
        </p:nvSpPr>
        <p:spPr>
          <a:xfrm>
            <a:off x="7406640" y="3364992"/>
            <a:ext cx="15462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Agyei Michael Addai  ·  Akyen Abban Maxwell  ·  Ajuitey Prince Awonaab  ·  Anorchie Michelle Frimpomaah  ·  Opoku Kwaku Kelvin</a:t>
            </a:r>
            <a:endParaRPr lang="en-US" sz="2000" dirty="0"/>
          </a:p>
        </p:txBody>
      </p:sp>
      <p:sp>
        <p:nvSpPr>
          <p:cNvPr id="16" name="Text 12"/>
          <p:cNvSpPr txBox="1"/>
          <p:nvPr/>
        </p:nvSpPr>
        <p:spPr>
          <a:xfrm>
            <a:off x="7406640" y="3858768"/>
            <a:ext cx="154625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</a:t>
            </a:r>
            <a:pPr algn="ctr" indent="0" marL="0">
              <a:buNone/>
            </a:pPr>
            <a:r>
              <a:rPr lang="en-US" sz="1800" dirty="0">
                <a:solidFill>
                  <a:srgbClr val="EE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Eric Opoku Osei    </a:t>
            </a:r>
            <a:pPr algn="ctr" indent="0" marL="0">
              <a:buNone/>
            </a:pPr>
            <a:r>
              <a:rPr lang="en-US" sz="1800" dirty="0">
                <a:solidFill>
                  <a:srgbClr val="EE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Department of Computer Science, KNUST, Ghana</a:t>
            </a:r>
            <a:endParaRPr lang="en-US" sz="1800" dirty="0"/>
          </a:p>
        </p:txBody>
      </p:sp>
      <p:sp>
        <p:nvSpPr>
          <p:cNvPr id="17" name="Shape 13"/>
          <p:cNvSpPr/>
          <p:nvPr/>
        </p:nvSpPr>
        <p:spPr>
          <a:xfrm>
            <a:off x="7406640" y="4526280"/>
            <a:ext cx="5852160" cy="566928"/>
          </a:xfrm>
          <a:prstGeom prst="roundRect">
            <a:avLst>
              <a:gd name="adj" fmla="val 50000"/>
            </a:avLst>
          </a:prstGeom>
          <a:solidFill>
            <a:srgbClr val="141B45"/>
          </a:solidFill>
          <a:ln w="12700">
            <a:solidFill>
              <a:srgbClr val="3A4A96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7406640" y="4521708"/>
            <a:ext cx="5852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Computers &amp; Education: AI (Elsevier, Q1)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13487400" y="4526280"/>
            <a:ext cx="4160520" cy="566928"/>
          </a:xfrm>
          <a:prstGeom prst="roundRect">
            <a:avLst>
              <a:gd name="adj" fmla="val 50000"/>
            </a:avLst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13487400" y="4521708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github.com/maagyei04/Nyansapo-RAG-Research</a:t>
            </a: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17876520" y="4526280"/>
            <a:ext cx="4992624" cy="566928"/>
          </a:xfrm>
          <a:prstGeom prst="roundRect">
            <a:avLst>
              <a:gd name="adj" fmla="val 50000"/>
            </a:avLst>
          </a:prstGeom>
          <a:solidFill>
            <a:srgbClr val="141B45"/>
          </a:solidFill>
          <a:ln w="12700">
            <a:solidFill>
              <a:srgbClr val="3A4A96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17876520" y="4521708"/>
            <a:ext cx="4992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USSD 384714# · No Internet Needed</a:t>
            </a:r>
            <a:endParaRPr lang="en-US" sz="1600" dirty="0"/>
          </a:p>
        </p:txBody>
      </p:sp>
      <p:sp>
        <p:nvSpPr>
          <p:cNvPr id="23" name="Shape 19"/>
          <p:cNvSpPr/>
          <p:nvPr/>
        </p:nvSpPr>
        <p:spPr>
          <a:xfrm>
            <a:off x="777240" y="7406640"/>
            <a:ext cx="8284464" cy="5394960"/>
          </a:xfrm>
          <a:prstGeom prst="roundRect">
            <a:avLst>
              <a:gd name="adj" fmla="val 2373"/>
            </a:avLst>
          </a:prstGeom>
          <a:solidFill>
            <a:srgbClr val="EEF1FB"/>
          </a:solidFill>
          <a:ln w="15875">
            <a:solidFill>
              <a:srgbClr val="D7DCF0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1097280" y="7726680"/>
            <a:ext cx="713232" cy="713232"/>
          </a:xfrm>
          <a:prstGeom prst="roundRect">
            <a:avLst>
              <a:gd name="adj" fmla="val 17949"/>
            </a:avLst>
          </a:prstGeom>
          <a:solidFill>
            <a:srgbClr val="2E4099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1097280" y="7717536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26" name="Text 22"/>
          <p:cNvSpPr txBox="1"/>
          <p:nvPr/>
        </p:nvSpPr>
        <p:spPr>
          <a:xfrm>
            <a:off x="2011680" y="7662672"/>
            <a:ext cx="672998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spc="30" kern="0" dirty="0">
                <a:solidFill>
                  <a:srgbClr val="141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</a:t>
            </a:r>
            <a:endParaRPr lang="en-US" sz="3200" dirty="0"/>
          </a:p>
        </p:txBody>
      </p:sp>
      <p:sp>
        <p:nvSpPr>
          <p:cNvPr id="27" name="Text 23"/>
          <p:cNvSpPr txBox="1"/>
          <p:nvPr/>
        </p:nvSpPr>
        <p:spPr>
          <a:xfrm>
            <a:off x="1097280" y="8759952"/>
            <a:ext cx="7644384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1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LLMs deployed for student support in Ghanaian universities hallucinate — generating plausible but factually wrong answers. Nyansapo is a Corrective RAG tutor grounded in 12,311 KNUST lecture-content chunks, built around a cost-weighted intent classifier (Nyansapo-QIC-WCE) that intercepts out-of-scope queries before retrieval. It runs online (Phi-2) or fully offline (Phi-4-mini, 3.60s latency) and is reachable by mobile app, USSD (384714#), and web.</a:t>
            </a:r>
            <a:endParaRPr lang="en-US" sz="2100" dirty="0"/>
          </a:p>
        </p:txBody>
      </p:sp>
      <p:sp>
        <p:nvSpPr>
          <p:cNvPr id="28" name="Shape 24"/>
          <p:cNvSpPr/>
          <p:nvPr/>
        </p:nvSpPr>
        <p:spPr>
          <a:xfrm>
            <a:off x="777240" y="13395960"/>
            <a:ext cx="713232" cy="713232"/>
          </a:xfrm>
          <a:prstGeom prst="roundRect">
            <a:avLst>
              <a:gd name="adj" fmla="val 17949"/>
            </a:avLst>
          </a:prstGeom>
          <a:solidFill>
            <a:srgbClr val="2E4099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777240" y="13386816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30" name="Text 26"/>
          <p:cNvSpPr txBox="1"/>
          <p:nvPr/>
        </p:nvSpPr>
        <p:spPr>
          <a:xfrm>
            <a:off x="1691640" y="13331952"/>
            <a:ext cx="737006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spc="30" kern="0" dirty="0">
                <a:solidFill>
                  <a:srgbClr val="141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31" name="Text 27"/>
          <p:cNvSpPr txBox="1"/>
          <p:nvPr/>
        </p:nvSpPr>
        <p:spPr>
          <a:xfrm>
            <a:off x="777240" y="14383512"/>
            <a:ext cx="8284464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30200" indent="-3302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21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hallucinate — plausible but false academic content</a:t>
            </a:r>
            <a:endParaRPr lang="en-US" sz="2100" dirty="0"/>
          </a:p>
          <a:p>
            <a:pPr algn="l" marL="330200" indent="-3302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21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RAG still hallucinates when retrieval quality is poor</a:t>
            </a:r>
            <a:endParaRPr lang="en-US" sz="2100" dirty="0"/>
          </a:p>
          <a:p>
            <a:pPr algn="l" marL="330200" indent="-3302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21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prior CRAG deployment in sub-Saharan African universities</a:t>
            </a:r>
            <a:endParaRPr lang="en-US" sz="2100" dirty="0"/>
          </a:p>
          <a:p>
            <a:pPr algn="l" marL="330200" indent="-3302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21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Bandwidth-constrained campuses need offline-capable AI</a:t>
            </a:r>
            <a:endParaRPr lang="en-US" sz="2100" dirty="0"/>
          </a:p>
          <a:p>
            <a:pPr algn="l" marL="330200" indent="-3302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21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Out-of-scope queries waste compute and risk hallucination</a:t>
            </a:r>
            <a:endParaRPr lang="en-US" sz="2100" dirty="0"/>
          </a:p>
        </p:txBody>
      </p:sp>
      <p:sp>
        <p:nvSpPr>
          <p:cNvPr id="32" name="Shape 28"/>
          <p:cNvSpPr/>
          <p:nvPr/>
        </p:nvSpPr>
        <p:spPr>
          <a:xfrm>
            <a:off x="777240" y="18589752"/>
            <a:ext cx="713232" cy="713232"/>
          </a:xfrm>
          <a:prstGeom prst="roundRect">
            <a:avLst>
              <a:gd name="adj" fmla="val 17949"/>
            </a:avLst>
          </a:prstGeom>
          <a:solidFill>
            <a:srgbClr val="2E4099"/>
          </a:solidFill>
          <a:ln/>
        </p:spPr>
      </p:sp>
      <p:sp>
        <p:nvSpPr>
          <p:cNvPr id="33" name="Text 29"/>
          <p:cNvSpPr txBox="1"/>
          <p:nvPr/>
        </p:nvSpPr>
        <p:spPr>
          <a:xfrm>
            <a:off x="777240" y="18580608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34" name="Text 30"/>
          <p:cNvSpPr txBox="1"/>
          <p:nvPr/>
        </p:nvSpPr>
        <p:spPr>
          <a:xfrm>
            <a:off x="1691640" y="18525744"/>
            <a:ext cx="737006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spc="30" kern="0" dirty="0">
                <a:solidFill>
                  <a:srgbClr val="141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200" dirty="0"/>
          </a:p>
        </p:txBody>
      </p:sp>
      <p:sp>
        <p:nvSpPr>
          <p:cNvPr id="35" name="Text 31"/>
          <p:cNvSpPr txBox="1"/>
          <p:nvPr/>
        </p:nvSpPr>
        <p:spPr>
          <a:xfrm>
            <a:off x="777240" y="19577304"/>
            <a:ext cx="8284464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406400" indent="-406400">
              <a:lnSpc>
                <a:spcPct val="110000"/>
              </a:lnSpc>
              <a:spcAft>
                <a:spcPts val="1600"/>
              </a:spcAft>
              <a:buSzPct val="100000"/>
              <a:buChar char="•"/>
            </a:pPr>
            <a:r>
              <a:rPr lang="en-US" sz="21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Nyansapo-QIC-WCE — replace standard cross-entropy with weighted cross-entropy for class imbalance and misrouting cost</a:t>
            </a:r>
            <a:endParaRPr lang="en-US" sz="2100" dirty="0"/>
          </a:p>
          <a:p>
            <a:pPr algn="l" marL="406400" indent="-406400">
              <a:lnSpc>
                <a:spcPct val="110000"/>
              </a:lnSpc>
              <a:spcAft>
                <a:spcPts val="1600"/>
              </a:spcAft>
              <a:buSzPct val="100000"/>
              <a:buChar char="•"/>
            </a:pPr>
            <a:r>
              <a:rPr lang="en-US" sz="21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CRAG against Naive RAG, BM25-only, and a Vanilla LLM on 200 gold QA pairs</a:t>
            </a:r>
            <a:endParaRPr lang="en-US" sz="2100" dirty="0"/>
          </a:p>
          <a:p>
            <a:pPr algn="l" marL="406400" indent="-406400">
              <a:lnSpc>
                <a:spcPct val="110000"/>
              </a:lnSpc>
              <a:spcAft>
                <a:spcPts val="1600"/>
              </a:spcAft>
              <a:buSzPct val="100000"/>
              <a:buChar char="•"/>
            </a:pPr>
            <a:r>
              <a:rPr lang="en-US" sz="21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online vs. offline latency; validate user trust with n=298 KNUST students</a:t>
            </a:r>
            <a:endParaRPr lang="en-US" sz="2100" dirty="0"/>
          </a:p>
        </p:txBody>
      </p:sp>
      <p:sp>
        <p:nvSpPr>
          <p:cNvPr id="36" name="Shape 32"/>
          <p:cNvSpPr/>
          <p:nvPr/>
        </p:nvSpPr>
        <p:spPr>
          <a:xfrm>
            <a:off x="777240" y="23783544"/>
            <a:ext cx="713232" cy="713232"/>
          </a:xfrm>
          <a:prstGeom prst="roundRect">
            <a:avLst>
              <a:gd name="adj" fmla="val 17949"/>
            </a:avLst>
          </a:prstGeom>
          <a:solidFill>
            <a:srgbClr val="2E4099"/>
          </a:solidFill>
          <a:ln/>
        </p:spPr>
      </p:sp>
      <p:sp>
        <p:nvSpPr>
          <p:cNvPr id="37" name="Text 33"/>
          <p:cNvSpPr txBox="1"/>
          <p:nvPr/>
        </p:nvSpPr>
        <p:spPr>
          <a:xfrm>
            <a:off x="777240" y="2377440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38" name="Text 34"/>
          <p:cNvSpPr txBox="1"/>
          <p:nvPr/>
        </p:nvSpPr>
        <p:spPr>
          <a:xfrm>
            <a:off x="1691640" y="23719536"/>
            <a:ext cx="737006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spc="30" kern="0" dirty="0">
                <a:solidFill>
                  <a:srgbClr val="141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3200" dirty="0"/>
          </a:p>
        </p:txBody>
      </p:sp>
      <p:sp>
        <p:nvSpPr>
          <p:cNvPr id="39" name="Text 35"/>
          <p:cNvSpPr txBox="1"/>
          <p:nvPr/>
        </p:nvSpPr>
        <p:spPr>
          <a:xfrm>
            <a:off x="777240" y="24771096"/>
            <a:ext cx="8284464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1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classifier: TF-IDF (d=500) + 2-layer feedforward network, weighted cross-entropy loss, 5 classes, 20 seeds, 70/15/15 split. RAG: hybrid BM25 + BGE-M3 dense retrieval, RRF fusion (k=5), CRAG evaluator (θ=0.45), Phi-2 online / Phi-4-mini offline. Knowledge base: 12,311 chunks from KNUST lecture slides &amp; IDL transcripts. 200 gold QA pairs (Wilcoxon, Bonferroni α=0.0167).</a:t>
            </a:r>
            <a:endParaRPr lang="en-US" sz="2100" dirty="0"/>
          </a:p>
        </p:txBody>
      </p:sp>
      <p:sp>
        <p:nvSpPr>
          <p:cNvPr id="40" name="Shape 36"/>
          <p:cNvSpPr/>
          <p:nvPr/>
        </p:nvSpPr>
        <p:spPr>
          <a:xfrm>
            <a:off x="868680" y="28200096"/>
            <a:ext cx="8101584" cy="6284940"/>
          </a:xfrm>
          <a:prstGeom prst="roundRect">
            <a:avLst>
              <a:gd name="adj" fmla="val 1455"/>
            </a:avLst>
          </a:prstGeom>
          <a:solidFill>
            <a:srgbClr val="FFFFFF"/>
          </a:solidFill>
          <a:ln w="15875">
            <a:solidFill>
              <a:srgbClr val="D7DCF0"/>
            </a:solidFill>
            <a:prstDash val="solid"/>
          </a:ln>
          <a:effectLst>
            <a:outerShdw sx="100000" sy="100000" kx="0" ky="0" algn="bl" rotWithShape="0" blurRad="127000" dist="38100" dir="5400000">
              <a:srgbClr val="0B1030">
                <a:alpha val="18000"/>
              </a:srgbClr>
            </a:outerShdw>
          </a:effectLst>
        </p:spPr>
      </p:sp>
      <p:pic>
        <p:nvPicPr>
          <p:cNvPr id="41" name="Image 2" descr="Figure1_System_Architectur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8291536"/>
            <a:ext cx="7918704" cy="6102060"/>
          </a:xfrm>
          <a:prstGeom prst="rect">
            <a:avLst/>
          </a:prstGeom>
        </p:spPr>
      </p:pic>
      <p:sp>
        <p:nvSpPr>
          <p:cNvPr id="42" name="Text 37"/>
          <p:cNvSpPr txBox="1"/>
          <p:nvPr/>
        </p:nvSpPr>
        <p:spPr>
          <a:xfrm>
            <a:off x="960120" y="34558188"/>
            <a:ext cx="7918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20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1 — Nyansapo architecture: dual-interface intake, hybrid retrieval, CRAG evaluation, online/offline generation.</a:t>
            </a:r>
            <a:endParaRPr lang="en-US" sz="2000" dirty="0"/>
          </a:p>
        </p:txBody>
      </p:sp>
      <p:sp>
        <p:nvSpPr>
          <p:cNvPr id="43" name="Shape 38"/>
          <p:cNvSpPr/>
          <p:nvPr/>
        </p:nvSpPr>
        <p:spPr>
          <a:xfrm>
            <a:off x="777240" y="35646324"/>
            <a:ext cx="8284464" cy="2468880"/>
          </a:xfrm>
          <a:prstGeom prst="roundRect">
            <a:avLst>
              <a:gd name="adj" fmla="val 5185"/>
            </a:avLst>
          </a:prstGeom>
          <a:solidFill>
            <a:srgbClr val="EEF1FB"/>
          </a:solidFill>
          <a:ln w="15875">
            <a:solidFill>
              <a:srgbClr val="D7DCF0"/>
            </a:solidFill>
            <a:prstDash val="solid"/>
          </a:ln>
        </p:spPr>
      </p:sp>
      <p:sp>
        <p:nvSpPr>
          <p:cNvPr id="44" name="Text 39"/>
          <p:cNvSpPr txBox="1"/>
          <p:nvPr/>
        </p:nvSpPr>
        <p:spPr>
          <a:xfrm>
            <a:off x="1124712" y="35920644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SCOPE</a:t>
            </a:r>
            <a:endParaRPr lang="en-US" sz="1800" dirty="0"/>
          </a:p>
        </p:txBody>
      </p:sp>
      <p:sp>
        <p:nvSpPr>
          <p:cNvPr id="45" name="Text 40"/>
          <p:cNvSpPr txBox="1"/>
          <p:nvPr/>
        </p:nvSpPr>
        <p:spPr>
          <a:xfrm>
            <a:off x="1124712" y="36423564"/>
            <a:ext cx="17876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40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12,311</a:t>
            </a:r>
            <a:endParaRPr lang="en-US" sz="3000" dirty="0"/>
          </a:p>
        </p:txBody>
      </p:sp>
      <p:sp>
        <p:nvSpPr>
          <p:cNvPr id="46" name="Text 41"/>
          <p:cNvSpPr txBox="1"/>
          <p:nvPr/>
        </p:nvSpPr>
        <p:spPr>
          <a:xfrm>
            <a:off x="1124712" y="37127652"/>
            <a:ext cx="17876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chunks</a:t>
            </a:r>
            <a:endParaRPr lang="en-US" sz="1400" dirty="0"/>
          </a:p>
        </p:txBody>
      </p:sp>
      <p:sp>
        <p:nvSpPr>
          <p:cNvPr id="47" name="Text 42"/>
          <p:cNvSpPr txBox="1"/>
          <p:nvPr/>
        </p:nvSpPr>
        <p:spPr>
          <a:xfrm>
            <a:off x="3022092" y="36423564"/>
            <a:ext cx="17876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40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</a:t>
            </a:r>
            <a:endParaRPr lang="en-US" sz="3000" dirty="0"/>
          </a:p>
        </p:txBody>
      </p:sp>
      <p:sp>
        <p:nvSpPr>
          <p:cNvPr id="48" name="Text 43"/>
          <p:cNvSpPr txBox="1"/>
          <p:nvPr/>
        </p:nvSpPr>
        <p:spPr>
          <a:xfrm>
            <a:off x="3022092" y="37127652"/>
            <a:ext cx="17876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QA pairs</a:t>
            </a:r>
            <a:endParaRPr lang="en-US" sz="1400" dirty="0"/>
          </a:p>
        </p:txBody>
      </p:sp>
      <p:sp>
        <p:nvSpPr>
          <p:cNvPr id="49" name="Text 44"/>
          <p:cNvSpPr txBox="1"/>
          <p:nvPr/>
        </p:nvSpPr>
        <p:spPr>
          <a:xfrm>
            <a:off x="4919472" y="36423564"/>
            <a:ext cx="17876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40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" dirty="0"/>
          </a:p>
        </p:txBody>
      </p:sp>
      <p:sp>
        <p:nvSpPr>
          <p:cNvPr id="50" name="Text 45"/>
          <p:cNvSpPr txBox="1"/>
          <p:nvPr/>
        </p:nvSpPr>
        <p:spPr>
          <a:xfrm>
            <a:off x="4919472" y="37127652"/>
            <a:ext cx="17876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classes</a:t>
            </a:r>
            <a:endParaRPr lang="en-US" sz="1400" dirty="0"/>
          </a:p>
        </p:txBody>
      </p:sp>
      <p:sp>
        <p:nvSpPr>
          <p:cNvPr id="51" name="Text 46"/>
          <p:cNvSpPr txBox="1"/>
          <p:nvPr/>
        </p:nvSpPr>
        <p:spPr>
          <a:xfrm>
            <a:off x="6816852" y="36423564"/>
            <a:ext cx="17876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40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52" name="Text 47"/>
          <p:cNvSpPr txBox="1"/>
          <p:nvPr/>
        </p:nvSpPr>
        <p:spPr>
          <a:xfrm>
            <a:off x="6816852" y="37127652"/>
            <a:ext cx="17876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interfaces</a:t>
            </a:r>
            <a:endParaRPr lang="en-US" sz="1400" dirty="0"/>
          </a:p>
        </p:txBody>
      </p:sp>
      <p:sp>
        <p:nvSpPr>
          <p:cNvPr id="53" name="Shape 48"/>
          <p:cNvSpPr/>
          <p:nvPr/>
        </p:nvSpPr>
        <p:spPr>
          <a:xfrm>
            <a:off x="9610344" y="7406640"/>
            <a:ext cx="713232" cy="713232"/>
          </a:xfrm>
          <a:prstGeom prst="roundRect">
            <a:avLst>
              <a:gd name="adj" fmla="val 17949"/>
            </a:avLst>
          </a:prstGeom>
          <a:solidFill>
            <a:srgbClr val="2E4099"/>
          </a:solidFill>
          <a:ln/>
        </p:spPr>
      </p:sp>
      <p:sp>
        <p:nvSpPr>
          <p:cNvPr id="54" name="Text 49"/>
          <p:cNvSpPr txBox="1"/>
          <p:nvPr/>
        </p:nvSpPr>
        <p:spPr>
          <a:xfrm>
            <a:off x="9610344" y="7397496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" dirty="0"/>
          </a:p>
        </p:txBody>
      </p:sp>
      <p:sp>
        <p:nvSpPr>
          <p:cNvPr id="55" name="Text 50"/>
          <p:cNvSpPr txBox="1"/>
          <p:nvPr/>
        </p:nvSpPr>
        <p:spPr>
          <a:xfrm>
            <a:off x="10524744" y="7342632"/>
            <a:ext cx="1013155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spc="30" kern="0" dirty="0">
                <a:solidFill>
                  <a:srgbClr val="141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Results</a:t>
            </a:r>
            <a:endParaRPr lang="en-US" sz="3200" dirty="0"/>
          </a:p>
        </p:txBody>
      </p:sp>
      <p:sp>
        <p:nvSpPr>
          <p:cNvPr id="56" name="Shape 51"/>
          <p:cNvSpPr/>
          <p:nvPr/>
        </p:nvSpPr>
        <p:spPr>
          <a:xfrm>
            <a:off x="9610344" y="8622792"/>
            <a:ext cx="5376672" cy="2788920"/>
          </a:xfrm>
          <a:prstGeom prst="roundRect">
            <a:avLst>
              <a:gd name="adj" fmla="val 4590"/>
            </a:avLst>
          </a:prstGeom>
          <a:solidFill>
            <a:srgbClr val="2E4099"/>
          </a:solidFill>
          <a:ln/>
          <a:effectLst>
            <a:outerShdw sx="100000" sy="100000" kx="0" ky="0" algn="bl" rotWithShape="0" blurRad="88900" dist="38100" dir="5400000">
              <a:srgbClr val="0B1030">
                <a:alpha val="25000"/>
              </a:srgbClr>
            </a:outerShdw>
          </a:effectLst>
        </p:spPr>
      </p:sp>
      <p:sp>
        <p:nvSpPr>
          <p:cNvPr id="57" name="Text 52"/>
          <p:cNvSpPr txBox="1"/>
          <p:nvPr/>
        </p:nvSpPr>
        <p:spPr>
          <a:xfrm>
            <a:off x="9793224" y="8878824"/>
            <a:ext cx="50109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2B7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0.621</a:t>
            </a:r>
            <a:endParaRPr lang="en-US" sz="5200" dirty="0"/>
          </a:p>
        </p:txBody>
      </p:sp>
      <p:sp>
        <p:nvSpPr>
          <p:cNvPr id="58" name="Text 53"/>
          <p:cNvSpPr txBox="1"/>
          <p:nvPr/>
        </p:nvSpPr>
        <p:spPr>
          <a:xfrm>
            <a:off x="9793224" y="10085832"/>
            <a:ext cx="5010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QIC-WCE Macro F1</a:t>
            </a:r>
            <a:endParaRPr lang="en-US" sz="2200" dirty="0"/>
          </a:p>
        </p:txBody>
      </p:sp>
      <p:sp>
        <p:nvSpPr>
          <p:cNvPr id="59" name="Text 54"/>
          <p:cNvSpPr txBox="1"/>
          <p:nvPr/>
        </p:nvSpPr>
        <p:spPr>
          <a:xfrm>
            <a:off x="9793224" y="10616184"/>
            <a:ext cx="5010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2E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0.198 baseline</a:t>
            </a:r>
            <a:endParaRPr lang="en-US" sz="1800" dirty="0"/>
          </a:p>
        </p:txBody>
      </p:sp>
      <p:sp>
        <p:nvSpPr>
          <p:cNvPr id="60" name="Shape 55"/>
          <p:cNvSpPr/>
          <p:nvPr/>
        </p:nvSpPr>
        <p:spPr>
          <a:xfrm>
            <a:off x="15279624" y="8622792"/>
            <a:ext cx="5376672" cy="2788920"/>
          </a:xfrm>
          <a:prstGeom prst="roundRect">
            <a:avLst>
              <a:gd name="adj" fmla="val 4590"/>
            </a:avLst>
          </a:prstGeom>
          <a:solidFill>
            <a:srgbClr val="2E4099"/>
          </a:solidFill>
          <a:ln/>
          <a:effectLst>
            <a:outerShdw sx="100000" sy="100000" kx="0" ky="0" algn="bl" rotWithShape="0" blurRad="88900" dist="38100" dir="5400000">
              <a:srgbClr val="0B1030">
                <a:alpha val="25000"/>
              </a:srgbClr>
            </a:outerShdw>
          </a:effectLst>
        </p:spPr>
      </p:sp>
      <p:sp>
        <p:nvSpPr>
          <p:cNvPr id="61" name="Text 56"/>
          <p:cNvSpPr txBox="1"/>
          <p:nvPr/>
        </p:nvSpPr>
        <p:spPr>
          <a:xfrm>
            <a:off x="15462504" y="8878824"/>
            <a:ext cx="50109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2B7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= 0.000002</a:t>
            </a:r>
            <a:endParaRPr lang="en-US" sz="5200" dirty="0"/>
          </a:p>
        </p:txBody>
      </p:sp>
      <p:sp>
        <p:nvSpPr>
          <p:cNvPr id="62" name="Text 57"/>
          <p:cNvSpPr txBox="1"/>
          <p:nvPr/>
        </p:nvSpPr>
        <p:spPr>
          <a:xfrm>
            <a:off x="15462504" y="10085832"/>
            <a:ext cx="5010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Wilcoxon significance</a:t>
            </a:r>
            <a:endParaRPr lang="en-US" sz="2200" dirty="0"/>
          </a:p>
        </p:txBody>
      </p:sp>
      <p:sp>
        <p:nvSpPr>
          <p:cNvPr id="63" name="Text 58"/>
          <p:cNvSpPr txBox="1"/>
          <p:nvPr/>
        </p:nvSpPr>
        <p:spPr>
          <a:xfrm>
            <a:off x="15462504" y="10616184"/>
            <a:ext cx="5010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2E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Cohen's d = 2.175</a:t>
            </a:r>
            <a:endParaRPr lang="en-US" sz="1800" dirty="0"/>
          </a:p>
        </p:txBody>
      </p:sp>
      <p:sp>
        <p:nvSpPr>
          <p:cNvPr id="64" name="Shape 59"/>
          <p:cNvSpPr/>
          <p:nvPr/>
        </p:nvSpPr>
        <p:spPr>
          <a:xfrm>
            <a:off x="9610344" y="11704320"/>
            <a:ext cx="5376672" cy="2788920"/>
          </a:xfrm>
          <a:prstGeom prst="roundRect">
            <a:avLst>
              <a:gd name="adj" fmla="val 4590"/>
            </a:avLst>
          </a:prstGeom>
          <a:solidFill>
            <a:srgbClr val="2E4099"/>
          </a:solidFill>
          <a:ln/>
          <a:effectLst>
            <a:outerShdw sx="100000" sy="100000" kx="0" ky="0" algn="bl" rotWithShape="0" blurRad="88900" dist="38100" dir="5400000">
              <a:srgbClr val="0B1030">
                <a:alpha val="25000"/>
              </a:srgbClr>
            </a:outerShdw>
          </a:effectLst>
        </p:spPr>
      </p:sp>
      <p:sp>
        <p:nvSpPr>
          <p:cNvPr id="65" name="Text 60"/>
          <p:cNvSpPr txBox="1"/>
          <p:nvPr/>
        </p:nvSpPr>
        <p:spPr>
          <a:xfrm>
            <a:off x="9793224" y="11960352"/>
            <a:ext cx="50109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2B7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3.60s</a:t>
            </a:r>
            <a:endParaRPr lang="en-US" sz="5200" dirty="0"/>
          </a:p>
        </p:txBody>
      </p:sp>
      <p:sp>
        <p:nvSpPr>
          <p:cNvPr id="66" name="Text 61"/>
          <p:cNvSpPr txBox="1"/>
          <p:nvPr/>
        </p:nvSpPr>
        <p:spPr>
          <a:xfrm>
            <a:off x="9793224" y="13167360"/>
            <a:ext cx="5010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mean latency</a:t>
            </a:r>
            <a:endParaRPr lang="en-US" sz="2200" dirty="0"/>
          </a:p>
        </p:txBody>
      </p:sp>
      <p:sp>
        <p:nvSpPr>
          <p:cNvPr id="67" name="Text 62"/>
          <p:cNvSpPr txBox="1"/>
          <p:nvPr/>
        </p:nvSpPr>
        <p:spPr>
          <a:xfrm>
            <a:off x="9793224" y="13697712"/>
            <a:ext cx="5010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2E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2.93× faster than online</a:t>
            </a:r>
            <a:endParaRPr lang="en-US" sz="1800" dirty="0"/>
          </a:p>
        </p:txBody>
      </p:sp>
      <p:sp>
        <p:nvSpPr>
          <p:cNvPr id="68" name="Shape 63"/>
          <p:cNvSpPr/>
          <p:nvPr/>
        </p:nvSpPr>
        <p:spPr>
          <a:xfrm>
            <a:off x="15279624" y="11704320"/>
            <a:ext cx="5376672" cy="2788920"/>
          </a:xfrm>
          <a:prstGeom prst="roundRect">
            <a:avLst>
              <a:gd name="adj" fmla="val 4590"/>
            </a:avLst>
          </a:prstGeom>
          <a:solidFill>
            <a:srgbClr val="2E4099"/>
          </a:solidFill>
          <a:ln/>
          <a:effectLst>
            <a:outerShdw sx="100000" sy="100000" kx="0" ky="0" algn="bl" rotWithShape="0" blurRad="88900" dist="38100" dir="5400000">
              <a:srgbClr val="0B1030">
                <a:alpha val="25000"/>
              </a:srgbClr>
            </a:outerShdw>
          </a:effectLst>
        </p:spPr>
      </p:sp>
      <p:sp>
        <p:nvSpPr>
          <p:cNvPr id="69" name="Text 64"/>
          <p:cNvSpPr txBox="1"/>
          <p:nvPr/>
        </p:nvSpPr>
        <p:spPr>
          <a:xfrm>
            <a:off x="15462504" y="11960352"/>
            <a:ext cx="50109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2B7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4.18 / 5.0</a:t>
            </a:r>
            <a:endParaRPr lang="en-US" sz="5200" dirty="0"/>
          </a:p>
        </p:txBody>
      </p:sp>
      <p:sp>
        <p:nvSpPr>
          <p:cNvPr id="70" name="Text 65"/>
          <p:cNvSpPr txBox="1"/>
          <p:nvPr/>
        </p:nvSpPr>
        <p:spPr>
          <a:xfrm>
            <a:off x="15462504" y="13167360"/>
            <a:ext cx="5010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trust score</a:t>
            </a:r>
            <a:endParaRPr lang="en-US" sz="2200" dirty="0"/>
          </a:p>
        </p:txBody>
      </p:sp>
      <p:sp>
        <p:nvSpPr>
          <p:cNvPr id="71" name="Text 66"/>
          <p:cNvSpPr txBox="1"/>
          <p:nvPr/>
        </p:nvSpPr>
        <p:spPr>
          <a:xfrm>
            <a:off x="15462504" y="13697712"/>
            <a:ext cx="5010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2E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298, p &lt; 0.0001</a:t>
            </a:r>
            <a:endParaRPr lang="en-US" sz="1800" dirty="0"/>
          </a:p>
        </p:txBody>
      </p:sp>
      <p:sp>
        <p:nvSpPr>
          <p:cNvPr id="72" name="Shape 67"/>
          <p:cNvSpPr/>
          <p:nvPr/>
        </p:nvSpPr>
        <p:spPr>
          <a:xfrm>
            <a:off x="9610344" y="14996160"/>
            <a:ext cx="11045952" cy="4992624"/>
          </a:xfrm>
          <a:prstGeom prst="roundRect">
            <a:avLst>
              <a:gd name="adj" fmla="val 1465"/>
            </a:avLst>
          </a:prstGeom>
          <a:solidFill>
            <a:srgbClr val="FFFFFF"/>
          </a:solidFill>
          <a:ln w="15875">
            <a:solidFill>
              <a:srgbClr val="D7DCF0"/>
            </a:solidFill>
            <a:prstDash val="solid"/>
          </a:ln>
        </p:spPr>
      </p:sp>
      <p:sp>
        <p:nvSpPr>
          <p:cNvPr id="73" name="Shape 68"/>
          <p:cNvSpPr/>
          <p:nvPr/>
        </p:nvSpPr>
        <p:spPr>
          <a:xfrm>
            <a:off x="9610344" y="14996160"/>
            <a:ext cx="11045952" cy="713232"/>
          </a:xfrm>
          <a:prstGeom prst="rect">
            <a:avLst/>
          </a:prstGeom>
          <a:solidFill>
            <a:srgbClr val="1B2A66"/>
          </a:solidFill>
          <a:ln/>
        </p:spPr>
      </p:sp>
      <p:sp>
        <p:nvSpPr>
          <p:cNvPr id="74" name="Text 69"/>
          <p:cNvSpPr txBox="1"/>
          <p:nvPr/>
        </p:nvSpPr>
        <p:spPr>
          <a:xfrm>
            <a:off x="9884664" y="14996160"/>
            <a:ext cx="635325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900" dirty="0"/>
          </a:p>
        </p:txBody>
      </p:sp>
      <p:sp>
        <p:nvSpPr>
          <p:cNvPr id="75" name="Text 70"/>
          <p:cNvSpPr txBox="1"/>
          <p:nvPr/>
        </p:nvSpPr>
        <p:spPr>
          <a:xfrm>
            <a:off x="16237915" y="14996160"/>
            <a:ext cx="414406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spc="8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900" dirty="0"/>
          </a:p>
        </p:txBody>
      </p:sp>
      <p:sp>
        <p:nvSpPr>
          <p:cNvPr id="76" name="Text 71"/>
          <p:cNvSpPr txBox="1"/>
          <p:nvPr/>
        </p:nvSpPr>
        <p:spPr>
          <a:xfrm>
            <a:off x="9884664" y="15709392"/>
            <a:ext cx="626181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 over baseline</a:t>
            </a:r>
            <a:endParaRPr lang="en-US" sz="1900" dirty="0"/>
          </a:p>
        </p:txBody>
      </p:sp>
      <p:sp>
        <p:nvSpPr>
          <p:cNvPr id="77" name="Text 72"/>
          <p:cNvSpPr txBox="1"/>
          <p:nvPr/>
        </p:nvSpPr>
        <p:spPr>
          <a:xfrm>
            <a:off x="16237915" y="15709392"/>
            <a:ext cx="414406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E4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+214.6%</a:t>
            </a:r>
            <a:endParaRPr lang="en-US" sz="1900" dirty="0"/>
          </a:p>
        </p:txBody>
      </p:sp>
      <p:sp>
        <p:nvSpPr>
          <p:cNvPr id="78" name="Shape 73"/>
          <p:cNvSpPr/>
          <p:nvPr/>
        </p:nvSpPr>
        <p:spPr>
          <a:xfrm>
            <a:off x="9610344" y="16422624"/>
            <a:ext cx="11045952" cy="713232"/>
          </a:xfrm>
          <a:prstGeom prst="rect">
            <a:avLst/>
          </a:prstGeom>
          <a:solidFill>
            <a:srgbClr val="EEF1FB"/>
          </a:solidFill>
          <a:ln/>
        </p:spPr>
      </p:sp>
      <p:sp>
        <p:nvSpPr>
          <p:cNvPr id="79" name="Text 74"/>
          <p:cNvSpPr txBox="1"/>
          <p:nvPr/>
        </p:nvSpPr>
        <p:spPr>
          <a:xfrm>
            <a:off x="9884664" y="16422624"/>
            <a:ext cx="626181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CRAG vs BM25 ROUGE-L</a:t>
            </a:r>
            <a:endParaRPr lang="en-US" sz="1900" dirty="0"/>
          </a:p>
        </p:txBody>
      </p:sp>
      <p:sp>
        <p:nvSpPr>
          <p:cNvPr id="80" name="Text 75"/>
          <p:cNvSpPr txBox="1"/>
          <p:nvPr/>
        </p:nvSpPr>
        <p:spPr>
          <a:xfrm>
            <a:off x="16237915" y="16422624"/>
            <a:ext cx="414406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E4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0.000001, d = 0.396</a:t>
            </a:r>
            <a:endParaRPr lang="en-US" sz="1900" dirty="0"/>
          </a:p>
        </p:txBody>
      </p:sp>
      <p:sp>
        <p:nvSpPr>
          <p:cNvPr id="81" name="Text 76"/>
          <p:cNvSpPr txBox="1"/>
          <p:nvPr/>
        </p:nvSpPr>
        <p:spPr>
          <a:xfrm>
            <a:off x="9884664" y="17135856"/>
            <a:ext cx="626181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latency (Colab T4 GPU)</a:t>
            </a:r>
            <a:endParaRPr lang="en-US" sz="1900" dirty="0"/>
          </a:p>
        </p:txBody>
      </p:sp>
      <p:sp>
        <p:nvSpPr>
          <p:cNvPr id="82" name="Text 77"/>
          <p:cNvSpPr txBox="1"/>
          <p:nvPr/>
        </p:nvSpPr>
        <p:spPr>
          <a:xfrm>
            <a:off x="16237915" y="17135856"/>
            <a:ext cx="414406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E4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10.55 s</a:t>
            </a:r>
            <a:endParaRPr lang="en-US" sz="1900" dirty="0"/>
          </a:p>
        </p:txBody>
      </p:sp>
      <p:sp>
        <p:nvSpPr>
          <p:cNvPr id="83" name="Shape 78"/>
          <p:cNvSpPr/>
          <p:nvPr/>
        </p:nvSpPr>
        <p:spPr>
          <a:xfrm>
            <a:off x="9610344" y="17849088"/>
            <a:ext cx="11045952" cy="713232"/>
          </a:xfrm>
          <a:prstGeom prst="rect">
            <a:avLst/>
          </a:prstGeom>
          <a:solidFill>
            <a:srgbClr val="EEF1FB"/>
          </a:solidFill>
          <a:ln/>
        </p:spPr>
      </p:sp>
      <p:sp>
        <p:nvSpPr>
          <p:cNvPr id="84" name="Text 79"/>
          <p:cNvSpPr txBox="1"/>
          <p:nvPr/>
        </p:nvSpPr>
        <p:spPr>
          <a:xfrm>
            <a:off x="9884664" y="17849088"/>
            <a:ext cx="626181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load (NASA-TLX)</a:t>
            </a:r>
            <a:endParaRPr lang="en-US" sz="1900" dirty="0"/>
          </a:p>
        </p:txBody>
      </p:sp>
      <p:sp>
        <p:nvSpPr>
          <p:cNvPr id="85" name="Text 80"/>
          <p:cNvSpPr txBox="1"/>
          <p:nvPr/>
        </p:nvSpPr>
        <p:spPr>
          <a:xfrm>
            <a:off x="16237915" y="17849088"/>
            <a:ext cx="414406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E4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1.88 / 5.0 — very low</a:t>
            </a:r>
            <a:endParaRPr lang="en-US" sz="1900" dirty="0"/>
          </a:p>
        </p:txBody>
      </p:sp>
      <p:sp>
        <p:nvSpPr>
          <p:cNvPr id="86" name="Text 81"/>
          <p:cNvSpPr txBox="1"/>
          <p:nvPr/>
        </p:nvSpPr>
        <p:spPr>
          <a:xfrm>
            <a:off x="9884664" y="18562320"/>
            <a:ext cx="626181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bias in trust</a:t>
            </a:r>
            <a:endParaRPr lang="en-US" sz="1900" dirty="0"/>
          </a:p>
        </p:txBody>
      </p:sp>
      <p:sp>
        <p:nvSpPr>
          <p:cNvPr id="87" name="Text 82"/>
          <p:cNvSpPr txBox="1"/>
          <p:nvPr/>
        </p:nvSpPr>
        <p:spPr>
          <a:xfrm>
            <a:off x="16237915" y="18562320"/>
            <a:ext cx="414406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E4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(p = 0.430)</a:t>
            </a:r>
            <a:endParaRPr lang="en-US" sz="1900" dirty="0"/>
          </a:p>
        </p:txBody>
      </p:sp>
      <p:sp>
        <p:nvSpPr>
          <p:cNvPr id="88" name="Shape 83"/>
          <p:cNvSpPr/>
          <p:nvPr/>
        </p:nvSpPr>
        <p:spPr>
          <a:xfrm>
            <a:off x="9610344" y="19275552"/>
            <a:ext cx="11045952" cy="713232"/>
          </a:xfrm>
          <a:prstGeom prst="rect">
            <a:avLst/>
          </a:prstGeom>
          <a:solidFill>
            <a:srgbClr val="EEF1FB"/>
          </a:solidFill>
          <a:ln/>
        </p:spPr>
      </p:sp>
      <p:sp>
        <p:nvSpPr>
          <p:cNvPr id="89" name="Text 84"/>
          <p:cNvSpPr txBox="1"/>
          <p:nvPr/>
        </p:nvSpPr>
        <p:spPr>
          <a:xfrm>
            <a:off x="9884664" y="19275552"/>
            <a:ext cx="626181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CRAG fairness across topics</a:t>
            </a:r>
            <a:endParaRPr lang="en-US" sz="1900" dirty="0"/>
          </a:p>
        </p:txBody>
      </p:sp>
      <p:sp>
        <p:nvSpPr>
          <p:cNvPr id="90" name="Text 85"/>
          <p:cNvSpPr txBox="1"/>
          <p:nvPr/>
        </p:nvSpPr>
        <p:spPr>
          <a:xfrm>
            <a:off x="16237915" y="19275552"/>
            <a:ext cx="414406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E4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 CS topic areas</a:t>
            </a:r>
            <a:endParaRPr lang="en-US" sz="1900" dirty="0"/>
          </a:p>
        </p:txBody>
      </p:sp>
      <p:sp>
        <p:nvSpPr>
          <p:cNvPr id="91" name="Shape 86"/>
          <p:cNvSpPr/>
          <p:nvPr/>
        </p:nvSpPr>
        <p:spPr>
          <a:xfrm>
            <a:off x="9656064" y="20445984"/>
            <a:ext cx="10954512" cy="5125683"/>
          </a:xfrm>
          <a:prstGeom prst="roundRect">
            <a:avLst>
              <a:gd name="adj" fmla="val 1784"/>
            </a:avLst>
          </a:prstGeom>
          <a:solidFill>
            <a:srgbClr val="FFFFFF"/>
          </a:solidFill>
          <a:ln w="15875">
            <a:solidFill>
              <a:srgbClr val="D7DCF0"/>
            </a:solidFill>
            <a:prstDash val="solid"/>
          </a:ln>
          <a:effectLst>
            <a:outerShdw sx="100000" sy="100000" kx="0" ky="0" algn="bl" rotWithShape="0" blurRad="127000" dist="38100" dir="5400000">
              <a:srgbClr val="0B1030">
                <a:alpha val="18000"/>
              </a:srgbClr>
            </a:outerShdw>
          </a:effectLst>
        </p:spPr>
      </p:sp>
      <p:pic>
        <p:nvPicPr>
          <p:cNvPr id="92" name="Image 3" descr="Figure7_Confusion_Matrice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47504" y="20537424"/>
            <a:ext cx="10771632" cy="4942803"/>
          </a:xfrm>
          <a:prstGeom prst="rect">
            <a:avLst/>
          </a:prstGeom>
        </p:spPr>
      </p:pic>
      <p:sp>
        <p:nvSpPr>
          <p:cNvPr id="93" name="Text 87"/>
          <p:cNvSpPr txBox="1"/>
          <p:nvPr/>
        </p:nvSpPr>
        <p:spPr>
          <a:xfrm>
            <a:off x="9747504" y="25644819"/>
            <a:ext cx="10771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20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7 — Confusion matrices: standard cross-entropy baseline collapses to one class; QIC-WCE recovers across all five intents.</a:t>
            </a:r>
            <a:endParaRPr lang="en-US" sz="2000" dirty="0"/>
          </a:p>
        </p:txBody>
      </p:sp>
      <p:sp>
        <p:nvSpPr>
          <p:cNvPr id="94" name="Shape 88"/>
          <p:cNvSpPr/>
          <p:nvPr/>
        </p:nvSpPr>
        <p:spPr>
          <a:xfrm>
            <a:off x="9656064" y="26595795"/>
            <a:ext cx="10954512" cy="4459710"/>
          </a:xfrm>
          <a:prstGeom prst="roundRect">
            <a:avLst>
              <a:gd name="adj" fmla="val 2050"/>
            </a:avLst>
          </a:prstGeom>
          <a:solidFill>
            <a:srgbClr val="FFFFFF"/>
          </a:solidFill>
          <a:ln w="15875">
            <a:solidFill>
              <a:srgbClr val="D7DCF0"/>
            </a:solidFill>
            <a:prstDash val="solid"/>
          </a:ln>
          <a:effectLst>
            <a:outerShdw sx="100000" sy="100000" kx="0" ky="0" algn="bl" rotWithShape="0" blurRad="127000" dist="38100" dir="5400000">
              <a:srgbClr val="0B1030">
                <a:alpha val="18000"/>
              </a:srgbClr>
            </a:outerShdw>
          </a:effectLst>
        </p:spPr>
      </p:sp>
      <p:pic>
        <p:nvPicPr>
          <p:cNvPr id="95" name="Image 4" descr="Figure5_F1_Distributio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47504" y="26687235"/>
            <a:ext cx="10771632" cy="4276830"/>
          </a:xfrm>
          <a:prstGeom prst="rect">
            <a:avLst/>
          </a:prstGeom>
        </p:spPr>
      </p:pic>
      <p:sp>
        <p:nvSpPr>
          <p:cNvPr id="96" name="Text 89"/>
          <p:cNvSpPr txBox="1"/>
          <p:nvPr/>
        </p:nvSpPr>
        <p:spPr>
          <a:xfrm>
            <a:off x="9747504" y="31128656"/>
            <a:ext cx="10771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20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5 — Macro-F1 across 20 seeds: engineered classifier (green) dominates the baseline (red) on every seed.</a:t>
            </a:r>
            <a:endParaRPr lang="en-US" sz="2000" dirty="0"/>
          </a:p>
        </p:txBody>
      </p:sp>
      <p:sp>
        <p:nvSpPr>
          <p:cNvPr id="97" name="Shape 90"/>
          <p:cNvSpPr/>
          <p:nvPr/>
        </p:nvSpPr>
        <p:spPr>
          <a:xfrm>
            <a:off x="21204936" y="7406640"/>
            <a:ext cx="713232" cy="713232"/>
          </a:xfrm>
          <a:prstGeom prst="roundRect">
            <a:avLst>
              <a:gd name="adj" fmla="val 17949"/>
            </a:avLst>
          </a:prstGeom>
          <a:solidFill>
            <a:srgbClr val="2E4099"/>
          </a:solidFill>
          <a:ln/>
        </p:spPr>
      </p:sp>
      <p:sp>
        <p:nvSpPr>
          <p:cNvPr id="98" name="Text 91"/>
          <p:cNvSpPr txBox="1"/>
          <p:nvPr/>
        </p:nvSpPr>
        <p:spPr>
          <a:xfrm>
            <a:off x="21204936" y="7397496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000" dirty="0"/>
          </a:p>
        </p:txBody>
      </p:sp>
      <p:sp>
        <p:nvSpPr>
          <p:cNvPr id="99" name="Text 92"/>
          <p:cNvSpPr txBox="1"/>
          <p:nvPr/>
        </p:nvSpPr>
        <p:spPr>
          <a:xfrm>
            <a:off x="22119336" y="7342632"/>
            <a:ext cx="737006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spc="30" kern="0" dirty="0">
                <a:solidFill>
                  <a:srgbClr val="141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Trust Study</a:t>
            </a:r>
            <a:endParaRPr lang="en-US" sz="3200" dirty="0"/>
          </a:p>
        </p:txBody>
      </p:sp>
      <p:sp>
        <p:nvSpPr>
          <p:cNvPr id="100" name="Shape 93"/>
          <p:cNvSpPr/>
          <p:nvPr/>
        </p:nvSpPr>
        <p:spPr>
          <a:xfrm>
            <a:off x="21250656" y="8302752"/>
            <a:ext cx="8193024" cy="6339708"/>
          </a:xfrm>
          <a:prstGeom prst="roundRect">
            <a:avLst>
              <a:gd name="adj" fmla="val 1442"/>
            </a:avLst>
          </a:prstGeom>
          <a:solidFill>
            <a:srgbClr val="FFFFFF"/>
          </a:solidFill>
          <a:ln w="15875">
            <a:solidFill>
              <a:srgbClr val="D7DCF0"/>
            </a:solidFill>
            <a:prstDash val="solid"/>
          </a:ln>
          <a:effectLst>
            <a:outerShdw sx="100000" sy="100000" kx="0" ky="0" algn="bl" rotWithShape="0" blurRad="127000" dist="38100" dir="5400000">
              <a:srgbClr val="0B1030">
                <a:alpha val="18000"/>
              </a:srgbClr>
            </a:outerShdw>
          </a:effectLst>
        </p:spPr>
      </p:sp>
      <p:pic>
        <p:nvPicPr>
          <p:cNvPr id="101" name="Image 5" descr="Figure9_User_Stud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342096" y="8394192"/>
            <a:ext cx="8010144" cy="6156828"/>
          </a:xfrm>
          <a:prstGeom prst="rect">
            <a:avLst/>
          </a:prstGeom>
        </p:spPr>
      </p:pic>
      <p:sp>
        <p:nvSpPr>
          <p:cNvPr id="102" name="Text 94"/>
          <p:cNvSpPr txBox="1"/>
          <p:nvPr/>
        </p:nvSpPr>
        <p:spPr>
          <a:xfrm>
            <a:off x="21342096" y="14715612"/>
            <a:ext cx="8010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20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9 — Trust study, n=298 KNUST students: high trust, very low cognitive load, no gender bias.</a:t>
            </a:r>
            <a:endParaRPr lang="en-US" sz="2000" dirty="0"/>
          </a:p>
        </p:txBody>
      </p:sp>
      <p:sp>
        <p:nvSpPr>
          <p:cNvPr id="103" name="Shape 95"/>
          <p:cNvSpPr/>
          <p:nvPr/>
        </p:nvSpPr>
        <p:spPr>
          <a:xfrm>
            <a:off x="21204936" y="15803748"/>
            <a:ext cx="8284464" cy="3063240"/>
          </a:xfrm>
          <a:prstGeom prst="roundRect">
            <a:avLst>
              <a:gd name="adj" fmla="val 4179"/>
            </a:avLst>
          </a:prstGeom>
          <a:solidFill>
            <a:srgbClr val="1B2A66"/>
          </a:solidFill>
          <a:ln/>
        </p:spPr>
      </p:sp>
      <p:sp>
        <p:nvSpPr>
          <p:cNvPr id="104" name="Text 96"/>
          <p:cNvSpPr txBox="1"/>
          <p:nvPr/>
        </p:nvSpPr>
        <p:spPr>
          <a:xfrm>
            <a:off x="21524976" y="16078068"/>
            <a:ext cx="7644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b="1" spc="6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NOVELTY — THREE WAYS TO REACH NYANSAPO</a:t>
            </a:r>
            <a:endParaRPr lang="en-US" sz="1700" dirty="0"/>
          </a:p>
        </p:txBody>
      </p:sp>
      <p:sp>
        <p:nvSpPr>
          <p:cNvPr id="105" name="Shape 97"/>
          <p:cNvSpPr/>
          <p:nvPr/>
        </p:nvSpPr>
        <p:spPr>
          <a:xfrm>
            <a:off x="21524976" y="16763868"/>
            <a:ext cx="2395728" cy="1828800"/>
          </a:xfrm>
          <a:prstGeom prst="roundRect">
            <a:avLst>
              <a:gd name="adj" fmla="val 5000"/>
            </a:avLst>
          </a:prstGeom>
          <a:solidFill>
            <a:srgbClr val="2E4099"/>
          </a:solidFill>
          <a:ln/>
        </p:spPr>
      </p:sp>
      <p:sp>
        <p:nvSpPr>
          <p:cNvPr id="106" name="Text 98"/>
          <p:cNvSpPr txBox="1"/>
          <p:nvPr/>
        </p:nvSpPr>
        <p:spPr>
          <a:xfrm>
            <a:off x="21524976" y="16928460"/>
            <a:ext cx="2395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📱</a:t>
            </a:r>
            <a:endParaRPr lang="en-US" sz="3000" dirty="0"/>
          </a:p>
        </p:txBody>
      </p:sp>
      <p:sp>
        <p:nvSpPr>
          <p:cNvPr id="107" name="Text 99"/>
          <p:cNvSpPr txBox="1"/>
          <p:nvPr/>
        </p:nvSpPr>
        <p:spPr>
          <a:xfrm>
            <a:off x="21598128" y="17513676"/>
            <a:ext cx="2249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600" dirty="0"/>
          </a:p>
        </p:txBody>
      </p:sp>
      <p:sp>
        <p:nvSpPr>
          <p:cNvPr id="108" name="Text 100"/>
          <p:cNvSpPr txBox="1"/>
          <p:nvPr/>
        </p:nvSpPr>
        <p:spPr>
          <a:xfrm>
            <a:off x="21598128" y="17897724"/>
            <a:ext cx="22494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2E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</a:t>
            </a:r>
            <a:endParaRPr lang="en-US" sz="1300" dirty="0"/>
          </a:p>
        </p:txBody>
      </p:sp>
      <p:sp>
        <p:nvSpPr>
          <p:cNvPr id="109" name="Shape 101"/>
          <p:cNvSpPr/>
          <p:nvPr/>
        </p:nvSpPr>
        <p:spPr>
          <a:xfrm>
            <a:off x="24149304" y="16763868"/>
            <a:ext cx="2395728" cy="1828800"/>
          </a:xfrm>
          <a:prstGeom prst="roundRect">
            <a:avLst>
              <a:gd name="adj" fmla="val 5000"/>
            </a:avLst>
          </a:prstGeom>
          <a:solidFill>
            <a:srgbClr val="2E4099"/>
          </a:solidFill>
          <a:ln/>
        </p:spPr>
      </p:sp>
      <p:sp>
        <p:nvSpPr>
          <p:cNvPr id="110" name="Text 102"/>
          <p:cNvSpPr txBox="1"/>
          <p:nvPr/>
        </p:nvSpPr>
        <p:spPr>
          <a:xfrm>
            <a:off x="24149304" y="16928460"/>
            <a:ext cx="2395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☎</a:t>
            </a:r>
            <a:endParaRPr lang="en-US" sz="3000" dirty="0"/>
          </a:p>
        </p:txBody>
      </p:sp>
      <p:sp>
        <p:nvSpPr>
          <p:cNvPr id="111" name="Text 103"/>
          <p:cNvSpPr txBox="1"/>
          <p:nvPr/>
        </p:nvSpPr>
        <p:spPr>
          <a:xfrm>
            <a:off x="24222456" y="17513676"/>
            <a:ext cx="2249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USSD</a:t>
            </a:r>
            <a:endParaRPr lang="en-US" sz="1600" dirty="0"/>
          </a:p>
        </p:txBody>
      </p:sp>
      <p:sp>
        <p:nvSpPr>
          <p:cNvPr id="112" name="Text 104"/>
          <p:cNvSpPr txBox="1"/>
          <p:nvPr/>
        </p:nvSpPr>
        <p:spPr>
          <a:xfrm>
            <a:off x="24222456" y="17897724"/>
            <a:ext cx="22494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2E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384714# — any phone</a:t>
            </a:r>
            <a:endParaRPr lang="en-US" sz="1300" dirty="0"/>
          </a:p>
        </p:txBody>
      </p:sp>
      <p:sp>
        <p:nvSpPr>
          <p:cNvPr id="113" name="Shape 105"/>
          <p:cNvSpPr/>
          <p:nvPr/>
        </p:nvSpPr>
        <p:spPr>
          <a:xfrm>
            <a:off x="26773632" y="16763868"/>
            <a:ext cx="2395728" cy="1828800"/>
          </a:xfrm>
          <a:prstGeom prst="roundRect">
            <a:avLst>
              <a:gd name="adj" fmla="val 5000"/>
            </a:avLst>
          </a:prstGeom>
          <a:solidFill>
            <a:srgbClr val="2E4099"/>
          </a:solidFill>
          <a:ln/>
        </p:spPr>
      </p:sp>
      <p:sp>
        <p:nvSpPr>
          <p:cNvPr id="114" name="Text 106"/>
          <p:cNvSpPr txBox="1"/>
          <p:nvPr/>
        </p:nvSpPr>
        <p:spPr>
          <a:xfrm>
            <a:off x="26773632" y="16928460"/>
            <a:ext cx="2395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🌐</a:t>
            </a:r>
            <a:endParaRPr lang="en-US" sz="3000" dirty="0"/>
          </a:p>
        </p:txBody>
      </p:sp>
      <p:sp>
        <p:nvSpPr>
          <p:cNvPr id="115" name="Text 107"/>
          <p:cNvSpPr txBox="1"/>
          <p:nvPr/>
        </p:nvSpPr>
        <p:spPr>
          <a:xfrm>
            <a:off x="26846784" y="17513676"/>
            <a:ext cx="2249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</a:t>
            </a:r>
            <a:endParaRPr lang="en-US" sz="1600" dirty="0"/>
          </a:p>
        </p:txBody>
      </p:sp>
      <p:sp>
        <p:nvSpPr>
          <p:cNvPr id="116" name="Text 108"/>
          <p:cNvSpPr txBox="1"/>
          <p:nvPr/>
        </p:nvSpPr>
        <p:spPr>
          <a:xfrm>
            <a:off x="26846784" y="17897724"/>
            <a:ext cx="22494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2E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access</a:t>
            </a:r>
            <a:endParaRPr lang="en-US" sz="1300" dirty="0"/>
          </a:p>
        </p:txBody>
      </p:sp>
      <p:sp>
        <p:nvSpPr>
          <p:cNvPr id="117" name="Shape 109"/>
          <p:cNvSpPr/>
          <p:nvPr/>
        </p:nvSpPr>
        <p:spPr>
          <a:xfrm>
            <a:off x="21204936" y="19415628"/>
            <a:ext cx="713232" cy="713232"/>
          </a:xfrm>
          <a:prstGeom prst="roundRect">
            <a:avLst>
              <a:gd name="adj" fmla="val 17949"/>
            </a:avLst>
          </a:prstGeom>
          <a:solidFill>
            <a:srgbClr val="2E4099"/>
          </a:solidFill>
          <a:ln/>
        </p:spPr>
      </p:sp>
      <p:sp>
        <p:nvSpPr>
          <p:cNvPr id="118" name="Text 110"/>
          <p:cNvSpPr txBox="1"/>
          <p:nvPr/>
        </p:nvSpPr>
        <p:spPr>
          <a:xfrm>
            <a:off x="21204936" y="19406484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000" dirty="0"/>
          </a:p>
        </p:txBody>
      </p:sp>
      <p:sp>
        <p:nvSpPr>
          <p:cNvPr id="119" name="Text 111"/>
          <p:cNvSpPr txBox="1"/>
          <p:nvPr/>
        </p:nvSpPr>
        <p:spPr>
          <a:xfrm>
            <a:off x="22119336" y="19351620"/>
            <a:ext cx="737006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spc="30" kern="0" dirty="0">
                <a:solidFill>
                  <a:srgbClr val="141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120" name="Text 112"/>
          <p:cNvSpPr txBox="1"/>
          <p:nvPr/>
        </p:nvSpPr>
        <p:spPr>
          <a:xfrm>
            <a:off x="21204936" y="20403180"/>
            <a:ext cx="8284464" cy="5669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30200" indent="-330200">
              <a:lnSpc>
                <a:spcPct val="110000"/>
              </a:lnSpc>
              <a:spcAft>
                <a:spcPts val="1300"/>
              </a:spcAft>
              <a:buSzPct val="100000"/>
              <a:buChar char="•"/>
            </a:pPr>
            <a:r>
              <a:rPr lang="en-US" sz="20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Nyansapo-QIC-WCE significantly beats the cross-entropy baseline (p=0.000002, d=2.175)</a:t>
            </a:r>
            <a:endParaRPr lang="en-US" sz="2000" dirty="0"/>
          </a:p>
          <a:p>
            <a:pPr algn="l" marL="330200" indent="-330200">
              <a:lnSpc>
                <a:spcPct val="110000"/>
              </a:lnSpc>
              <a:spcAft>
                <a:spcPts val="1300"/>
              </a:spcAft>
              <a:buSzPct val="100000"/>
              <a:buChar char="•"/>
            </a:pPr>
            <a:r>
              <a:rPr lang="en-US" sz="20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RRF retrieval significantly beats BM25-only on ROUGE-L and BERTScore</a:t>
            </a:r>
            <a:endParaRPr lang="en-US" sz="2000" dirty="0"/>
          </a:p>
          <a:p>
            <a:pPr algn="l" marL="330200" indent="-330200">
              <a:lnSpc>
                <a:spcPct val="110000"/>
              </a:lnSpc>
              <a:spcAft>
                <a:spcPts val="1300"/>
              </a:spcAft>
              <a:buSzPct val="100000"/>
              <a:buChar char="•"/>
            </a:pPr>
            <a:r>
              <a:rPr lang="en-US" sz="20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mode (3.60s) is 2.93× faster than online — and free</a:t>
            </a:r>
            <a:endParaRPr lang="en-US" sz="2000" dirty="0"/>
          </a:p>
          <a:p>
            <a:pPr algn="l" marL="330200" indent="-330200">
              <a:lnSpc>
                <a:spcPct val="110000"/>
              </a:lnSpc>
              <a:spcAft>
                <a:spcPts val="1300"/>
              </a:spcAft>
              <a:buSzPct val="100000"/>
              <a:buChar char="•"/>
            </a:pPr>
            <a:r>
              <a:rPr lang="en-US" sz="20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trust (4.18/5) with very low cognitive load (1.88/5) validates the CLT framework</a:t>
            </a:r>
            <a:endParaRPr lang="en-US" sz="2000" dirty="0"/>
          </a:p>
          <a:p>
            <a:pPr algn="l" marL="330200" indent="-330200">
              <a:lnSpc>
                <a:spcPct val="110000"/>
              </a:lnSpc>
              <a:spcAft>
                <a:spcPts val="1300"/>
              </a:spcAft>
              <a:buSzPct val="100000"/>
              <a:buChar char="•"/>
            </a:pPr>
            <a:r>
              <a:rPr lang="en-US" sz="20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RAG+USSD deployment in Ghanaian higher education</a:t>
            </a:r>
            <a:endParaRPr lang="en-US" sz="2000" dirty="0"/>
          </a:p>
          <a:p>
            <a:pPr algn="l" marL="330200" indent="-330200">
              <a:lnSpc>
                <a:spcPct val="110000"/>
              </a:lnSpc>
              <a:spcAft>
                <a:spcPts val="1300"/>
              </a:spcAft>
              <a:buSzPct val="100000"/>
              <a:buChar char="•"/>
            </a:pPr>
            <a:r>
              <a:rPr lang="en-US" sz="20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Multi-interface access (app, USSD, web) ensures equitable device access</a:t>
            </a:r>
            <a:endParaRPr lang="en-US" sz="2000" dirty="0"/>
          </a:p>
          <a:p>
            <a:pPr algn="l" marL="330200" indent="-330200">
              <a:lnSpc>
                <a:spcPct val="110000"/>
              </a:lnSpc>
              <a:spcAft>
                <a:spcPts val="1300"/>
              </a:spcAft>
              <a:buSzPct val="100000"/>
              <a:buChar char="•"/>
            </a:pPr>
            <a:r>
              <a:rPr lang="en-US" sz="20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work: Twi/multilingual queries, federated RAG, live USSD rollout</a:t>
            </a:r>
            <a:endParaRPr lang="en-US" sz="2000" dirty="0"/>
          </a:p>
        </p:txBody>
      </p:sp>
      <p:sp>
        <p:nvSpPr>
          <p:cNvPr id="121" name="Shape 113"/>
          <p:cNvSpPr/>
          <p:nvPr/>
        </p:nvSpPr>
        <p:spPr>
          <a:xfrm>
            <a:off x="21204936" y="26346780"/>
            <a:ext cx="713232" cy="713232"/>
          </a:xfrm>
          <a:prstGeom prst="roundRect">
            <a:avLst>
              <a:gd name="adj" fmla="val 17949"/>
            </a:avLst>
          </a:prstGeom>
          <a:solidFill>
            <a:srgbClr val="2E4099"/>
          </a:solidFill>
          <a:ln/>
        </p:spPr>
      </p:sp>
      <p:sp>
        <p:nvSpPr>
          <p:cNvPr id="122" name="Text 114"/>
          <p:cNvSpPr txBox="1"/>
          <p:nvPr/>
        </p:nvSpPr>
        <p:spPr>
          <a:xfrm>
            <a:off x="21204936" y="26337636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000" dirty="0"/>
          </a:p>
        </p:txBody>
      </p:sp>
      <p:sp>
        <p:nvSpPr>
          <p:cNvPr id="123" name="Text 115"/>
          <p:cNvSpPr txBox="1"/>
          <p:nvPr/>
        </p:nvSpPr>
        <p:spPr>
          <a:xfrm>
            <a:off x="22119336" y="26282772"/>
            <a:ext cx="737006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spc="30" kern="0" dirty="0">
                <a:solidFill>
                  <a:srgbClr val="141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200" dirty="0"/>
          </a:p>
        </p:txBody>
      </p:sp>
      <p:sp>
        <p:nvSpPr>
          <p:cNvPr id="124" name="Text 116"/>
          <p:cNvSpPr txBox="1"/>
          <p:nvPr/>
        </p:nvSpPr>
        <p:spPr>
          <a:xfrm>
            <a:off x="21204936" y="27334332"/>
            <a:ext cx="828446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Yan et al. (2024). Corrective Retrieval Augmented Generation. arXiv:2401.15884</a:t>
            </a:r>
            <a:endParaRPr lang="en-US" sz="16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Lewis et al. (2020). RAG for Knowledge-Intensive NLP Tasks. NeurIPS</a:t>
            </a:r>
            <a:endParaRPr lang="en-US" sz="16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Ji et al. (2023). Survey of Hallucination in NLG. ACM Comp. Surveys</a:t>
            </a:r>
            <a:endParaRPr lang="en-US" sz="16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Chen et al. (2024). BGE M3-Embedding. arXiv:2402.03216</a:t>
            </a:r>
            <a:endParaRPr lang="en-US" sz="16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Sweller (2020). Cognitive Load Theory. ETRD</a:t>
            </a:r>
            <a:endParaRPr lang="en-US" sz="1600" dirty="0"/>
          </a:p>
        </p:txBody>
      </p:sp>
      <p:sp>
        <p:nvSpPr>
          <p:cNvPr id="125" name="Shape 117"/>
          <p:cNvSpPr/>
          <p:nvPr/>
        </p:nvSpPr>
        <p:spPr>
          <a:xfrm>
            <a:off x="21204936" y="30168972"/>
            <a:ext cx="8284464" cy="3017520"/>
          </a:xfrm>
          <a:prstGeom prst="roundRect">
            <a:avLst>
              <a:gd name="adj" fmla="val 4242"/>
            </a:avLst>
          </a:prstGeom>
          <a:solidFill>
            <a:srgbClr val="2E4099"/>
          </a:solidFill>
          <a:ln/>
          <a:effectLst>
            <a:outerShdw sx="100000" sy="100000" kx="0" ky="0" algn="bl" rotWithShape="0" blurRad="88900" dist="38100" dir="5400000">
              <a:srgbClr val="0B1030">
                <a:alpha val="20000"/>
              </a:srgbClr>
            </a:outerShdw>
          </a:effectLst>
        </p:spPr>
      </p:sp>
      <p:sp>
        <p:nvSpPr>
          <p:cNvPr id="126" name="Shape 118"/>
          <p:cNvSpPr/>
          <p:nvPr/>
        </p:nvSpPr>
        <p:spPr>
          <a:xfrm>
            <a:off x="21524976" y="30489012"/>
            <a:ext cx="23774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</p:spPr>
      </p:sp>
      <p:pic>
        <p:nvPicPr>
          <p:cNvPr id="127" name="Image 6" descr="qr_github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662136" y="30626172"/>
            <a:ext cx="2103120" cy="2103120"/>
          </a:xfrm>
          <a:prstGeom prst="rect">
            <a:avLst/>
          </a:prstGeom>
        </p:spPr>
      </p:pic>
      <p:sp>
        <p:nvSpPr>
          <p:cNvPr id="128" name="Text 119"/>
          <p:cNvSpPr txBox="1"/>
          <p:nvPr/>
        </p:nvSpPr>
        <p:spPr>
          <a:xfrm>
            <a:off x="24405336" y="30626172"/>
            <a:ext cx="4809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FOR CODE &amp; PAPER</a:t>
            </a:r>
            <a:endParaRPr lang="en-US" sz="1700" dirty="0"/>
          </a:p>
        </p:txBody>
      </p:sp>
      <p:sp>
        <p:nvSpPr>
          <p:cNvPr id="129" name="Text 120"/>
          <p:cNvSpPr txBox="1"/>
          <p:nvPr/>
        </p:nvSpPr>
        <p:spPr>
          <a:xfrm>
            <a:off x="24405336" y="31357692"/>
            <a:ext cx="48097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2E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github.com/maagyei04/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2E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Nyansapo-RAG-Research</a:t>
            </a:r>
            <a:endParaRPr lang="en-US" sz="1500" dirty="0"/>
          </a:p>
        </p:txBody>
      </p:sp>
      <p:sp>
        <p:nvSpPr>
          <p:cNvPr id="130" name="Shape 121"/>
          <p:cNvSpPr/>
          <p:nvPr/>
        </p:nvSpPr>
        <p:spPr>
          <a:xfrm>
            <a:off x="0" y="41477184"/>
            <a:ext cx="30275784" cy="1325880"/>
          </a:xfrm>
          <a:prstGeom prst="rect">
            <a:avLst/>
          </a:prstGeom>
          <a:solidFill>
            <a:srgbClr val="1B2A66"/>
          </a:solidFill>
          <a:ln/>
        </p:spPr>
      </p:sp>
      <p:sp>
        <p:nvSpPr>
          <p:cNvPr id="131" name="Shape 122"/>
          <p:cNvSpPr/>
          <p:nvPr/>
        </p:nvSpPr>
        <p:spPr>
          <a:xfrm>
            <a:off x="0" y="41477184"/>
            <a:ext cx="30275784" cy="73152"/>
          </a:xfrm>
          <a:prstGeom prst="rect">
            <a:avLst/>
          </a:prstGeom>
          <a:solidFill>
            <a:srgbClr val="F2B705"/>
          </a:solidFill>
          <a:ln/>
        </p:spPr>
      </p:sp>
      <p:sp>
        <p:nvSpPr>
          <p:cNvPr id="132" name="Text 123"/>
          <p:cNvSpPr txBox="1"/>
          <p:nvPr/>
        </p:nvSpPr>
        <p:spPr>
          <a:xfrm>
            <a:off x="777240" y="41605200"/>
            <a:ext cx="28721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</a:t>
            </a:r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github.com/maagyei04/Nyansapo-RAG-Research     </a:t>
            </a:r>
            <a:pPr algn="ctr" indent="0" marL="0">
              <a:buNone/>
            </a:pPr>
            <a:r>
              <a:rPr lang="en-US" sz="1700" b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 Supervisor: </a:t>
            </a:r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Eric Opoku Osei     </a:t>
            </a:r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 Dept. of Computer Science, KNUST, Ghana</a:t>
            </a:r>
            <a:endParaRPr lang="en-US" sz="1700" dirty="0"/>
          </a:p>
        </p:txBody>
      </p:sp>
      <p:sp>
        <p:nvSpPr>
          <p:cNvPr id="133" name="Text 124"/>
          <p:cNvSpPr txBox="1"/>
          <p:nvPr/>
        </p:nvSpPr>
        <p:spPr>
          <a:xfrm>
            <a:off x="777240" y="42153840"/>
            <a:ext cx="28721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— Email: </a:t>
            </a:r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maagyei04@gmail.com     </a:t>
            </a:r>
            <a:pPr algn="ctr" indent="0" marL="0">
              <a:buNone/>
            </a:pPr>
            <a:r>
              <a:rPr lang="en-US" sz="1700" b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 Phone: </a:t>
            </a:r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+233 54 119 0955     </a:t>
            </a:r>
            <a:pPr algn="ctr" indent="0" marL="0">
              <a:buNone/>
            </a:pPr>
            <a:r>
              <a:rPr lang="en-US" sz="1700" b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 Submitted: </a:t>
            </a:r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2026-09-08T18:41:06Z</dcterms:created>
  <dcterms:modified xsi:type="dcterms:W3CDTF">2026-09-08T18:41:06Z</dcterms:modified>
</cp:coreProperties>
</file>